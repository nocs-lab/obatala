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1b8212424d4f4b" /><Relationship Type="http://schemas.openxmlformats.org/officeDocument/2006/relationships/extended-properties" Target="/docProps/app.xml" Id="R319d31ce39b74590" /><Relationship Type="http://schemas.openxmlformats.org/officeDocument/2006/relationships/officeDocument" Target="/ppt/presentation.xml" Id="R653c69bb52da4e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548a4ad4d64a75"/>
  </p:sldMasterIdLst>
  <p:notesMasterIdLst>
    <p:notesMasterId xmlns:r="http://schemas.openxmlformats.org/officeDocument/2006/relationships" r:id="Rb711d9bcc9aa485c"/>
  </p:notesMasterIdLst>
  <p:sldIdLst>
    <p:sldId xmlns:r="http://schemas.openxmlformats.org/officeDocument/2006/relationships" id="256" r:id="Rb4e2d332f75e44ee"/>
    <p:sldId xmlns:r="http://schemas.openxmlformats.org/officeDocument/2006/relationships" id="257" r:id="R0130f29f86164c08"/>
    <p:sldId xmlns:r="http://schemas.openxmlformats.org/officeDocument/2006/relationships" id="258" r:id="R5ebca186f218475e"/>
    <p:sldId xmlns:r="http://schemas.openxmlformats.org/officeDocument/2006/relationships" id="259" r:id="R54d1935fe8f44a1a"/>
    <p:sldId xmlns:r="http://schemas.openxmlformats.org/officeDocument/2006/relationships" id="260" r:id="Rd74616fb4c174995"/>
    <p:sldId xmlns:r="http://schemas.openxmlformats.org/officeDocument/2006/relationships" id="261" r:id="R10aa7e97e30d4c13"/>
    <p:sldId xmlns:r="http://schemas.openxmlformats.org/officeDocument/2006/relationships" id="262" r:id="R6bc27b572bde49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f819c0cd404f90" /><Relationship Type="http://schemas.openxmlformats.org/officeDocument/2006/relationships/slideMaster" Target="/ppt/slideMasters/slideMaster1.xml" Id="R43548a4ad4d64a75" /><Relationship Type="http://schemas.openxmlformats.org/officeDocument/2006/relationships/notesMaster" Target="/ppt/notesMasters/notesMaster1.xml" Id="Rb711d9bcc9aa485c" /><Relationship Type="http://schemas.openxmlformats.org/officeDocument/2006/relationships/presProps" Target="/ppt/presProps.xml" Id="Rb1d76625e78e47bf" /><Relationship Type="http://schemas.openxmlformats.org/officeDocument/2006/relationships/tableStyles" Target="/ppt/tableStyles.xml" Id="R6446892973aa4967" /><Relationship Type="http://schemas.openxmlformats.org/officeDocument/2006/relationships/slide" Target="/ppt/slides/slide1.xml" Id="Rb4e2d332f75e44ee" /><Relationship Type="http://schemas.openxmlformats.org/officeDocument/2006/relationships/slide" Target="/ppt/slides/slide2.xml" Id="R0130f29f86164c08" /><Relationship Type="http://schemas.openxmlformats.org/officeDocument/2006/relationships/slide" Target="/ppt/slides/slide3.xml" Id="R5ebca186f218475e" /><Relationship Type="http://schemas.openxmlformats.org/officeDocument/2006/relationships/slide" Target="/ppt/slides/slide4.xml" Id="R54d1935fe8f44a1a" /><Relationship Type="http://schemas.openxmlformats.org/officeDocument/2006/relationships/slide" Target="/ppt/slides/slide5.xml" Id="Rd74616fb4c174995" /><Relationship Type="http://schemas.openxmlformats.org/officeDocument/2006/relationships/slide" Target="/ppt/slides/slide6.xml" Id="R10aa7e97e30d4c13" /><Relationship Type="http://schemas.openxmlformats.org/officeDocument/2006/relationships/slide" Target="/ppt/slides/slide7.xml" Id="R6bc27b572bde49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8e79b1a35a45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8bbbcc946b42bb" /><Relationship Type="http://schemas.openxmlformats.org/officeDocument/2006/relationships/notesMaster" Target="/ppt/notesMasters/notesMaster1.xml" Id="R7411663b994940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b1d21ed1bb4897" /><Relationship Type="http://schemas.openxmlformats.org/officeDocument/2006/relationships/notesMaster" Target="/ppt/notesMasters/notesMaster1.xml" Id="Re5bee5cbe1e641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1e1cdcb63b43aa" /><Relationship Type="http://schemas.openxmlformats.org/officeDocument/2006/relationships/notesMaster" Target="/ppt/notesMasters/notesMaster1.xml" Id="Rb680ae25962e41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74468013df464b" /><Relationship Type="http://schemas.openxmlformats.org/officeDocument/2006/relationships/notesMaster" Target="/ppt/notesMasters/notesMaster1.xml" Id="R3d0c00a169514b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0d4700a74d41a7" /><Relationship Type="http://schemas.openxmlformats.org/officeDocument/2006/relationships/notesMaster" Target="/ppt/notesMasters/notesMaster1.xml" Id="Rdb1c3a74e8a445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e613f4e7ce4344" /><Relationship Type="http://schemas.openxmlformats.org/officeDocument/2006/relationships/notesMaster" Target="/ppt/notesMasters/notesMaster1.xml" Id="Rd5b793f4cc5d4a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92b1861f644ac6" /><Relationship Type="http://schemas.openxmlformats.org/officeDocument/2006/relationships/notesMaster" Target="/ppt/notesMasters/notesMaster1.xml" Id="R647caaf627bc48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 local da interface administrativa do Obatalá: manual-update-screenshots/dashboard.png.</a:t>
            </a:r>
          </a:p>
          <a:p xmlns:a="http://schemas.openxmlformats.org/drawingml/2006/main">
            <a:r>
              <a:t>- Contexto solicitado pelo usuário: apresentação curta para nova equipe do IBRAM sobre o status atual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 local da interface administrativa do Obatalá: manual-update-screenshots/processos.png.</a:t>
            </a:r>
          </a:p>
          <a:p xmlns:a="http://schemas.openxmlformats.org/drawingml/2006/main">
            <a:r>
              <a:t>- Manual de Curadoria 3.1 atualizado pelo usuario e pela conversa anterior.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 local: specs/unificar-editor-modelo-exportacao-tainacan.md.</a:t>
            </a:r>
          </a:p>
          <a:p xmlns:a="http://schemas.openxmlformats.org/drawingml/2006/main">
            <a:r>
              <a:t>- Captura local: manual-update-screenshots/tainacan-export-accordion-enabled.png.</a:t>
            </a:r>
          </a:p>
          <a:p xmlns:a="http://schemas.openxmlformats.org/drawingml/2006/main">
            <a:r>
              <a:t>- Componente de mapeamento: src/admin/components/FlowEditor/components/inputControls/TainacanFieldMappingControls.js.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 local: specs/unificar-editor-modelo-exportacao-tainacan.md.</a:t>
            </a:r>
          </a:p>
          <a:p xmlns:a="http://schemas.openxmlformats.org/drawingml/2006/main">
            <a:r>
              <a:t>- Componente de preparação: src/admin/components/ProcessManager/TainacanExportPreparation.js.</a:t>
            </a:r>
          </a:p>
          <a:p xmlns:a="http://schemas.openxmlformats.org/drawingml/2006/main">
            <a:r>
              <a:t>- Serviço backend de exportação: classes/Services/TainacanExportService.php.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 local: specs/unificar-editor-modelo-exportacao-tainacan.md.</a:t>
            </a:r>
          </a:p>
          <a:p xmlns:a="http://schemas.openxmlformats.org/drawingml/2006/main">
            <a:r>
              <a:t>- Mapeamento por campo: src/admin/components/FlowEditor/components/inputControls/TainacanFieldMappingControls.js.</a:t>
            </a:r>
          </a:p>
          <a:p xmlns:a="http://schemas.openxmlformats.org/drawingml/2006/main">
            <a:r>
              <a:t>- Preparacao: src/admin/components/ProcessManager/TainacanExportPreparation.js.</a:t>
            </a:r>
          </a:p>
          <a:p xmlns:a="http://schemas.openxmlformats.org/drawingml/2006/main">
            <a:r>
              <a:t>- Execução: classes/Services/TainacanExportService.php.</a:t>
            </a:r>
          </a:p>
          <a:p xmlns:a="http://schemas.openxmlformats.org/drawingml/2006/main">
            <a:r>
              <a:t>- Rastreabilidade: src/admin/components/TainacanItems/TainacanItemsPage.js e TainacanItemTimeline.js.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Status da spec local: specs/unificar-editor-modelo-exportacao-tainacan.md.</a:t>
            </a:r>
          </a:p>
          <a:p xmlns:a="http://schemas.openxmlformats.org/drawingml/2006/main">
            <a:r>
              <a:t>- Pontos inferidos a partir dos critérios de aceite da própria especificação e da conversa com o usuário.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Próximos passos sintetizados a partir do foco informado pelo usuário e dos critérios de validação da spec local.</a:t>
            </a:r>
          </a:p>
          <a:p xmlns:a="http://schemas.openxmlformats.org/drawingml/2006/main">
            <a:r>
              <a:t>- Spec local: specs/unificar-editor-modelo-exportacao-tainacan.md.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8377768be4f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74320be2374e4c" /><Relationship Type="http://schemas.openxmlformats.org/officeDocument/2006/relationships/slideLayout" Target="/ppt/slideLayouts/slideLayout1.xml" Id="R3d65beca5dda41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65beca5dda41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a67b79b8b47a3" /><Relationship Type="http://schemas.openxmlformats.org/officeDocument/2006/relationships/image" Target="/ppt/media/image.png" Id="Rdbe956b7d66544e4" /><Relationship Type="http://schemas.openxmlformats.org/officeDocument/2006/relationships/notesSlide" Target="/ppt/notesSlides/notesSlide1.xml" Id="R938663575ee049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3e63cfe1e4969" /><Relationship Type="http://schemas.openxmlformats.org/officeDocument/2006/relationships/image" Target="/ppt/media/image2.png" Id="Rada8f92c84e544d3" /><Relationship Type="http://schemas.openxmlformats.org/officeDocument/2006/relationships/notesSlide" Target="/ppt/notesSlides/notesSlide2.xml" Id="R3ce751442c5d4f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c09c49da0430c" /><Relationship Type="http://schemas.openxmlformats.org/officeDocument/2006/relationships/image" Target="/ppt/media/image.jpeg" Id="Rb55d753442ab4e8e" /><Relationship Type="http://schemas.openxmlformats.org/officeDocument/2006/relationships/notesSlide" Target="/ppt/notesSlides/notesSlide3.xml" Id="R5e5d3d593b764b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036f7e91c4aef" /><Relationship Type="http://schemas.openxmlformats.org/officeDocument/2006/relationships/notesSlide" Target="/ppt/notesSlides/notesSlide4.xml" Id="R44d0c169bf5d4e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97cf16d76463b" /><Relationship Type="http://schemas.openxmlformats.org/officeDocument/2006/relationships/notesSlide" Target="/ppt/notesSlides/notesSlide5.xml" Id="R7de3c2e85e384f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7773e7c114add" /><Relationship Type="http://schemas.openxmlformats.org/officeDocument/2006/relationships/notesSlide" Target="/ppt/notesSlides/notesSlide6.xml" Id="R6e97f6bb23ef44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30e5d21f24f39" /><Relationship Type="http://schemas.openxmlformats.org/officeDocument/2006/relationships/notesSlide" Target="/ppt/notesSlides/notesSlide7.xml" Id="R76e21f15b3f546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E400B-627E-4971-9CA2-1C032ED3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DC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8DCC"/>
                </a:solidFill>
                <a:latin typeface="Arial"/>
                <a:ea typeface="Arial"/>
                <a:cs typeface="Arial"/>
              </a:rPr>
              <a:t>Obatalá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47AD2-3079-47E0-8A26-C21ADAD4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Status atual do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C86B8-6968-4355-A787-BBD68D70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Exportação de itens para o Tainacan por meio de processos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E96D7-6F03-4184-B416-9B7AF14E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IBRAM | Setembro de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36D76-9DDD-419C-8F01-37A43A02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33475"/>
            <a:ext cx="5257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956b7d66544e4"/>
          <a:srcRect xmlns:a="http://schemas.openxmlformats.org/drawingml/2006/main" l="11" t="0" r="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200150"/>
            <a:ext cx="5124450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E52F1-145E-4A9D-936C-590BAEEF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2834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5EC7E-816A-4BEC-8156-1456ED86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Obatalá já opera a rotina curatorial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54425-7186-4EB6-A637-B772721B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9A2FE-B44B-40E2-9E7E-46E57EB8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7DD19-316C-476B-801E-190BEF88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619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A plataforma concentra modelos, processos, itens de acervo, grupos e documentos em uma interface administrativa integrada ao Tainacan.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85E6A-6E0E-4954-BAD5-663F6333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DCC"/>
          </a:solidFill>
          <a:ln xmlns:a="http://schemas.openxmlformats.org/drawingml/2006/main" w="0">
            <a:solidFill>
              <a:srgbClr val="2F8D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FA594-4C92-4D67-8338-79673961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Modelos definem etapas e campos de cada fluxo curatorial.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C0314-ADE4-4E31-A895-0BD70AA4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DCC"/>
          </a:solidFill>
          <a:ln xmlns:a="http://schemas.openxmlformats.org/drawingml/2006/main" w="0">
            <a:solidFill>
              <a:srgbClr val="2F8D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FD388-F41C-4241-A634-A78896A0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Processos registram a execução, histórico, responsáveis e documentos.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4D296-C3E8-4CCB-92D6-1F248622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DCC"/>
          </a:solidFill>
          <a:ln xmlns:a="http://schemas.openxmlformats.org/drawingml/2006/main" w="0">
            <a:solidFill>
              <a:srgbClr val="2F8D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9675A-1F15-4E86-8917-1809C412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Itens do acervo mostram a relação entre Tainacan e processos vinculados.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59CBE-2945-4B02-86F4-171DD165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DCC"/>
          </a:solidFill>
          <a:ln xmlns:a="http://schemas.openxmlformats.org/drawingml/2006/main" w="0">
            <a:solidFill>
              <a:srgbClr val="2F8D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A4D01-CD73-445D-A013-D296240C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Permissões organizam quem modela, executa e acompanha cada rotina.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FF66F-3B5C-42AA-92D0-60F1E94A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81225"/>
            <a:ext cx="43053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8f92c84e544d3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2247900"/>
            <a:ext cx="4171950" cy="1752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314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34472-C8EC-4D19-9DCD-2872FD34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Exportação Tainacan fica no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6C7BB-74FF-40F1-A484-DDA62AF3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4D6F3-2A9B-46F2-892E-24965F01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6EDA7-DED6-4AA1-B359-88310853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571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O mapeamento deixa de ser uma configuração isolada: ele passa a fazer parte do próprio modelo de processo.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2997C-ABE7-43B0-B2DD-014AE906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98C3C-4A10-4161-AE7B-0661A034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566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Um acordeon habilita ou desabilita a exportação no editor do modelo.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EC5E0-8F72-46F9-B648-79626A2E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CCDFE-92F8-4604-81BD-1FBA2A34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566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Coleções de destino são selecionadas antes do mapeamento dos campos.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C37A0-8146-4B88-904D-A2310D21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42A8C-836A-43BA-B533-D051464B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566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Cada componente de etapa pode apontar para metadados do Tainacan.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219B9-4AFB-4AE8-9925-212BCAC8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23E01-3EBF-47D7-A2E4-42A371B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566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Ao salvar, fluxo do processo e configuração de exportação ficam alinhados.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00DA8-DCD0-449C-8A13-AEB6DA69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400175"/>
            <a:ext cx="46863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d753442ab4e8e"/>
          <a:srcRect xmlns:a="http://schemas.openxmlformats.org/drawingml/2006/main" l="9956" t="0" r="99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1466850"/>
            <a:ext cx="4552950" cy="3943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844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5A6498-0F5C-480A-A5F5-651C9D67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exportação já tem uma cadeia operacional definida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D7773-984C-4633-AB8A-2F09D0B2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A7170-4F77-4A60-AEB5-2AA0F6B1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55BF1-2D2A-4B61-B380-E0CECF49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2038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93A98-0443-4143-882A-BEB29F50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6B6BC-C5C1-4862-A2F5-7BB28DC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8E887-9A27-4BDA-A8C8-13246B6A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58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Definir etapas e campos do processo.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7DEF2-E7A5-4A74-9397-981C6E56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3337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D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4152C-1051-4DF1-B4BB-44788579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2038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4491B-B612-40EB-BCD5-86DBCB9E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28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83909-15BC-4E0C-85CD-24167BA0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Mapear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369BB-BC92-4C89-91DF-AE5AA8D0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09950"/>
            <a:ext cx="158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Ligar campos do Obatalá a metadados do Tainacan.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C4542-7DD0-428B-BB55-0688B278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3337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D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47785-3D38-45E3-A16E-271E32D0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2038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F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FDFE9-8B4E-4E9C-BEE5-C25FE0F3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28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DC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8DC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7E299-6545-4A8D-8957-2C8CCD88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575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Preparar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4DCBD-67AD-4DA7-A94A-FE1B9432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09950"/>
            <a:ext cx="158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Escolher exportação manual ou via planilha.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C15B1-819B-469D-B1C0-FF41DD77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337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D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615C2-0030-4818-81BD-ECE8EF23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0250"/>
            <a:ext cx="2038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1F4E5-6839-4D72-A531-82F46146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28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729C2D-4C7D-4A83-955B-80729F61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Confirmar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9715B5-7A32-47F2-BF3F-E19E7161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158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Gerar ou atualizar os itens no Tainacan.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E537F-740B-46C1-9DC4-42EE2923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3337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D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C1CB1-8B3B-43BF-9D0A-3E555CF9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00250"/>
            <a:ext cx="2038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C8D6CC-DA67-4E7A-87B7-A8027496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28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15D920-DFB8-45AF-94AE-3C721334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575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Rastrear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D9D8BC-DB13-4FEB-82DA-A6AE0F41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09950"/>
            <a:ext cx="158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Manter vínculo entre item exportado e processo.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8AFE7B-F77E-4292-814C-B6E02032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A etapa de preparação é o ponto de decisão do usuário: exportar manualmente ou importar dados por planilha.</a:t>
            </a:r>
          </a:p>
        </p:txBody>
      </p:sp>
    </p:spTree>
    <p:extLst>
      <p:ext uri="{BB962C8B-B14F-4D97-AF65-F5344CB8AC3E}">
        <p14:creationId xmlns:p14="http://schemas.microsoft.com/office/powerpoint/2010/main" val="2006473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7C2FD-C262-4C99-A0BE-296421FD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Implementado: interface, persistência e execução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128EB-087F-4FFE-AB78-FC088D51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0100B-2713-4240-B1B8-8899D552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9D46F-19EB-4A8B-8EB3-CF15ECD3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4B829-6425-46C3-B6EA-C5232DE0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Editor unificado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05AAB-8E5A-4471-B1D6-2E81BA0B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90700"/>
            <a:ext cx="681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Acordeon Tainacan Export no modelo de processo.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86304-1964-431A-9CF8-205CC6D0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2EB78-5FD0-442D-AC7C-FDD137A3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Mapeamento por campo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1A347-D0A3-4647-A1AD-D1DDEFFC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681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Cada componente pode ser associado a coleção e metadado.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80F21-FA10-48F0-984B-8DF0972B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FCD60-241C-411A-9EF4-6A1D0EEE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Preparação do processo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CBFC8-6A23-4E06-B55D-806F2398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52800"/>
            <a:ext cx="681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Usuário decide entre entrada manual e planilha CSV/XLS/XLSX.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2A110-4EE9-4991-B66F-D63B8211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E0FFE-B28F-416F-97CE-F3A8D24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Execução no Tainacan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69C22-5CA3-4B80-AB7E-765C990F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33850"/>
            <a:ext cx="681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Serviço cria ou atualiza itens e guarda o resultado da exportação.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9AD1E-2EED-4F6A-92CE-8E6B38A7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48768C-278C-46C2-8725-B4432B11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Rastreabilidade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76AF8-5FDF-4664-94A6-CA0A4038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14900"/>
            <a:ext cx="681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Itens do acervo exibem processos vinculados e histórico.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DE537-FA25-4B9A-B30E-B127AAA3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15858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0688C-1D4A-4B9A-AFF7-F0268203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Funcionalidade em 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0C2A2-7288-49AC-9641-2D75EAF7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5F759-3670-4D0C-9923-008F8347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4BDC9-75F3-40FB-8696-60A4D5F3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8DC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8DCC"/>
                </a:solidFill>
                <a:latin typeface="Arial"/>
                <a:ea typeface="Arial"/>
                <a:cs typeface="Arial"/>
              </a:rPr>
              <a:t>Estado atual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79239-A8EC-40E3-B26D-81759AF2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A especificação está marcada como em validação. A base de interface e serviços existe; o próximo valor vem de testes orientados por coleções e processos reais.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F5FCD-4307-4A89-BBDF-9780513F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8A16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8A169"/>
                </a:solidFill>
                <a:latin typeface="Arial"/>
                <a:ea typeface="Arial"/>
                <a:cs typeface="Arial"/>
              </a:rPr>
              <a:t>Pontos de atenção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B22FA-8A74-41E0-B728-21C965C4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CD0C8-0593-44A5-B75F-FAC2EAE2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Validar fim a fim com coleções piloto do IBRAM.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4ECF3-B6A8-4AFA-9880-38855E77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3D32D-E07B-487B-BCCB-E85CB046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Conferir permissões e contratos REST em perfis reais.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9398E-4C7A-443D-BFF8-254ABF69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0C258-80CD-45C3-A978-65DCFD3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671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Refinar mensagens de erro para importação por planilha.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33C07-C466-4267-B86F-3316A33C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76FA2-58B0-4E3F-A6CC-AC6E42FF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957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Fechar critérios de aceite antes da implantação assistida.</a:t>
            </a:r>
          </a:p>
        </p:txBody>
      </p:sp>
    </p:spTree>
    <p:extLst>
      <p:ext uri="{BB962C8B-B14F-4D97-AF65-F5344CB8AC3E}">
        <p14:creationId xmlns:p14="http://schemas.microsoft.com/office/powerpoint/2010/main" val="28194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8482B-E967-40D7-9E28-1D59CB23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Próximo passo: piloto com a equipe do IBRAM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585D3-4E3F-478F-8057-674DCDDD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0F0DD-52E2-4540-8941-9CA32BF9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10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BAA58-6AF4-4748-9E62-050B8715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O objetivo da próxima rodada é transformar a funcionalidade em um fluxo confiável para acervos reais.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98E3C-9525-4B36-B6A3-A32DD1EA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Escolher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A9BC1-5F26-4EB2-A6F1-CBE05873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D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DEA8A-8B75-47DF-B1AB-1E1127B2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um modelo de processo e uma coleção piloto.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5C120-E631-424B-8082-68298310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67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Mapear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5FC47-6776-4BFA-94D0-E0A6C7C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8A1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7ECDB-B25B-48A5-908D-FC378834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624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campos essenciais aos metadados do Tainacan.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CA7B5-52C1-4D3F-849C-1C7424D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67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796E9-420F-4293-967C-EE0D6B87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385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D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B4C81-BB47-4471-A449-FA9BFAF1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cenarios manual e via planilha.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E30CC-F408-40F9-95D7-71D1CA45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Ajustar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2D324-CEDC-4EA2-BB0E-813DCB47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8A1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0F3A4-64B4-4547-9582-96FB09B2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624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1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16E"/>
                </a:solidFill>
                <a:latin typeface="Arial"/>
                <a:ea typeface="Arial"/>
                <a:cs typeface="Arial"/>
              </a:rPr>
              <a:t>rótulos, validações e documentação.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7D944-A73A-49BB-AC5F-1A858451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Resultado esperado: exportação rastreável, repetível e compreensível pela equipe que opera os processos.</a:t>
            </a:r>
          </a:p>
        </p:txBody>
      </p:sp>
    </p:spTree>
    <p:extLst>
      <p:ext uri="{BB962C8B-B14F-4D97-AF65-F5344CB8AC3E}">
        <p14:creationId xmlns:p14="http://schemas.microsoft.com/office/powerpoint/2010/main" val="1391914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2026-09-01T01:53:10.9280000Z</dcterms:created>
  <dcterms:modified xsi:type="dcterms:W3CDTF">2026-09-01T01:53:10.9280000Z</dcterms:modified>
</coreProperties>
</file>